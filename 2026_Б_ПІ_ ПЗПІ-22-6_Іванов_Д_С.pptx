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9144000" cy="5143500" type="screen16x9"/>
  <p:notesSz cx="6858000" cy="9144000"/>
  <p:embeddedFontLst>
    <p:embeddedFont>
      <p:font typeface="Economica" panose="020B0604020202020204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ureIvanovDmytro/2026-B-PI-PZPI-22-6_Ivanov_D_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51400" y="834966"/>
            <a:ext cx="3391234" cy="15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err="1"/>
              <a:t>Програмна</a:t>
            </a:r>
            <a:r>
              <a:rPr lang="ru-RU" sz="2400" dirty="0"/>
              <a:t> система для </a:t>
            </a:r>
            <a:r>
              <a:rPr lang="ru-RU" sz="2400" dirty="0" err="1"/>
              <a:t>керування</a:t>
            </a:r>
            <a:r>
              <a:rPr lang="ru-RU" sz="2400" dirty="0"/>
              <a:t> системою </a:t>
            </a:r>
            <a:r>
              <a:rPr lang="ru-RU" sz="2400" dirty="0" err="1"/>
              <a:t>освітлення</a:t>
            </a:r>
            <a:r>
              <a:rPr lang="ru-RU" sz="2400" dirty="0"/>
              <a:t> в </a:t>
            </a:r>
            <a:r>
              <a:rPr lang="ru-RU" sz="2400" dirty="0" err="1"/>
              <a:t>розумному</a:t>
            </a:r>
            <a:r>
              <a:rPr lang="ru-RU" sz="2400" dirty="0"/>
              <a:t> </a:t>
            </a:r>
            <a:r>
              <a:rPr lang="ru-RU" sz="2400" dirty="0" err="1"/>
              <a:t>будинку</a:t>
            </a: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320526" y="3542184"/>
            <a:ext cx="5277982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ПІБ, група:	 Іванов Д.С. ПЗПІ-22-6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Керівник:	</a:t>
            </a:r>
            <a:r>
              <a:rPr lang="ru-RU" dirty="0"/>
              <a:t>доц. </a:t>
            </a:r>
            <a:r>
              <a:rPr lang="ru-RU" dirty="0" err="1"/>
              <a:t>кафедри</a:t>
            </a:r>
            <a:r>
              <a:rPr lang="ru-RU" dirty="0"/>
              <a:t> ПІ </a:t>
            </a:r>
            <a:r>
              <a:rPr lang="ru-RU" dirty="0" err="1"/>
              <a:t>Сергій</a:t>
            </a:r>
            <a:r>
              <a:rPr lang="ru-RU" dirty="0"/>
              <a:t> МАР’ЇН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7 </a:t>
            </a:r>
            <a:r>
              <a:rPr lang="ru-RU" dirty="0"/>
              <a:t>липня</a:t>
            </a:r>
            <a:r>
              <a:rPr lang="uk" dirty="0"/>
              <a:t> 2026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101657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ru-RU" b="1" dirty="0"/>
              <a:t>	Мета </a:t>
            </a:r>
            <a:r>
              <a:rPr lang="ru-RU" b="1" dirty="0" err="1"/>
              <a:t>роботи</a:t>
            </a:r>
            <a:r>
              <a:rPr lang="ru-RU" b="1" dirty="0"/>
              <a:t>:</a:t>
            </a:r>
            <a:endParaRPr lang="ru-RU" dirty="0"/>
          </a:p>
          <a:p>
            <a:pPr marL="0" lvl="0" indent="0">
              <a:spcBef>
                <a:spcPts val="1200"/>
              </a:spcBef>
              <a:buNone/>
            </a:pPr>
            <a:r>
              <a:rPr lang="ru-RU" dirty="0"/>
              <a:t>	</a:t>
            </a:r>
            <a:r>
              <a:rPr lang="ru-RU" dirty="0" err="1"/>
              <a:t>Розробка</a:t>
            </a:r>
            <a:r>
              <a:rPr lang="ru-RU" dirty="0"/>
              <a:t> </a:t>
            </a:r>
            <a:r>
              <a:rPr lang="ru-RU" dirty="0" err="1"/>
              <a:t>масштабованої</a:t>
            </a:r>
            <a:r>
              <a:rPr lang="ru-RU" dirty="0"/>
              <a:t>, </a:t>
            </a:r>
            <a:r>
              <a:rPr lang="ru-RU" dirty="0" err="1"/>
              <a:t>безпечної</a:t>
            </a:r>
            <a:r>
              <a:rPr lang="ru-RU" dirty="0"/>
              <a:t> та </a:t>
            </a:r>
            <a:r>
              <a:rPr lang="ru-RU" dirty="0" err="1"/>
              <a:t>автономної</a:t>
            </a:r>
            <a:r>
              <a:rPr lang="ru-RU" dirty="0"/>
              <a:t> </a:t>
            </a:r>
            <a:r>
              <a:rPr lang="ru-RU" dirty="0" err="1"/>
              <a:t>програмної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для </a:t>
            </a:r>
            <a:r>
              <a:rPr lang="ru-RU" dirty="0" err="1"/>
              <a:t>керування</a:t>
            </a:r>
            <a:r>
              <a:rPr lang="ru-RU" dirty="0"/>
              <a:t> </a:t>
            </a:r>
            <a:r>
              <a:rPr lang="ru-RU" dirty="0" err="1"/>
              <a:t>розумним</a:t>
            </a:r>
            <a:r>
              <a:rPr lang="ru-RU" dirty="0"/>
              <a:t> </a:t>
            </a:r>
            <a:r>
              <a:rPr lang="ru-RU" dirty="0" err="1"/>
              <a:t>будинком</a:t>
            </a:r>
            <a:r>
              <a:rPr lang="ru-RU" dirty="0"/>
              <a:t> з </a:t>
            </a:r>
            <a:r>
              <a:rPr lang="ru-RU" dirty="0" err="1"/>
              <a:t>використанням</a:t>
            </a:r>
            <a:r>
              <a:rPr lang="ru-RU" dirty="0"/>
              <a:t> </a:t>
            </a:r>
            <a:r>
              <a:rPr lang="ru-RU" dirty="0" err="1"/>
              <a:t>локальної</a:t>
            </a:r>
            <a:r>
              <a:rPr lang="ru-RU" dirty="0"/>
              <a:t> </a:t>
            </a:r>
            <a:r>
              <a:rPr lang="ru-RU" dirty="0" err="1"/>
              <a:t>мережі</a:t>
            </a:r>
            <a:r>
              <a:rPr lang="ru-RU" dirty="0"/>
              <a:t> </a:t>
            </a:r>
            <a:r>
              <a:rPr lang="ru-RU" dirty="0" err="1"/>
              <a:t>Zigbee</a:t>
            </a:r>
            <a:r>
              <a:rPr lang="ru-RU" dirty="0"/>
              <a:t>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b="1" dirty="0"/>
              <a:t>	</a:t>
            </a:r>
            <a:r>
              <a:rPr lang="ru-RU" b="1" dirty="0" err="1"/>
              <a:t>Актуальність</a:t>
            </a:r>
            <a:r>
              <a:rPr lang="ru-RU" b="1" dirty="0"/>
              <a:t> теми: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dirty="0"/>
              <a:t>	У </a:t>
            </a:r>
            <a:r>
              <a:rPr lang="ru-RU" dirty="0" err="1"/>
              <a:t>сучасному</a:t>
            </a:r>
            <a:r>
              <a:rPr lang="ru-RU" dirty="0"/>
              <a:t> </a:t>
            </a:r>
            <a:r>
              <a:rPr lang="ru-RU" dirty="0" err="1"/>
              <a:t>світі</a:t>
            </a:r>
            <a:r>
              <a:rPr lang="ru-RU" dirty="0"/>
              <a:t> </a:t>
            </a:r>
            <a:r>
              <a:rPr lang="ru-RU" dirty="0" err="1"/>
              <a:t>існує</a:t>
            </a:r>
            <a:r>
              <a:rPr lang="ru-RU" dirty="0"/>
              <a:t> </a:t>
            </a:r>
            <a:r>
              <a:rPr lang="ru-RU" dirty="0" err="1"/>
              <a:t>високий</a:t>
            </a:r>
            <a:r>
              <a:rPr lang="ru-RU" dirty="0"/>
              <a:t> попит на </a:t>
            </a:r>
            <a:r>
              <a:rPr lang="ru-RU" dirty="0" err="1"/>
              <a:t>надійні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розумного</a:t>
            </a:r>
            <a:r>
              <a:rPr lang="ru-RU" dirty="0"/>
              <a:t> </a:t>
            </a:r>
            <a:r>
              <a:rPr lang="ru-RU" dirty="0" err="1"/>
              <a:t>будинку</a:t>
            </a:r>
            <a:r>
              <a:rPr lang="ru-RU" dirty="0"/>
              <a:t>. </a:t>
            </a:r>
            <a:r>
              <a:rPr lang="ru-RU" dirty="0" err="1"/>
              <a:t>Проєкт</a:t>
            </a:r>
            <a:r>
              <a:rPr lang="ru-RU" dirty="0"/>
              <a:t>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рішення</a:t>
            </a:r>
            <a:r>
              <a:rPr lang="ru-RU" dirty="0"/>
              <a:t> без </a:t>
            </a:r>
            <a:r>
              <a:rPr lang="ru-RU" dirty="0" err="1"/>
              <a:t>залежності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хмарних</a:t>
            </a:r>
            <a:r>
              <a:rPr lang="ru-RU" dirty="0"/>
              <a:t> </a:t>
            </a:r>
            <a:r>
              <a:rPr lang="ru-RU" dirty="0" err="1"/>
              <a:t>серверів</a:t>
            </a:r>
            <a:r>
              <a:rPr lang="ru-RU" dirty="0"/>
              <a:t>, з акцентом на </a:t>
            </a:r>
            <a:r>
              <a:rPr lang="ru-RU" dirty="0" err="1"/>
              <a:t>енергоефективності</a:t>
            </a:r>
            <a:r>
              <a:rPr lang="ru-RU" dirty="0"/>
              <a:t>, </a:t>
            </a:r>
            <a:r>
              <a:rPr lang="ru-RU" dirty="0" err="1"/>
              <a:t>безпеці</a:t>
            </a:r>
            <a:r>
              <a:rPr lang="ru-RU" dirty="0"/>
              <a:t> та </a:t>
            </a:r>
            <a:r>
              <a:rPr lang="ru-RU" dirty="0" err="1"/>
              <a:t>швидкодії</a:t>
            </a:r>
            <a:r>
              <a:rPr lang="ru-RU" dirty="0"/>
              <a:t>.</a:t>
            </a:r>
          </a:p>
          <a:p>
            <a:pPr marL="0" lvl="0" indent="0">
              <a:spcBef>
                <a:spcPts val="1200"/>
              </a:spcBef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ru-RU" b="1" dirty="0" err="1">
                <a:highlight>
                  <a:srgbClr val="FFFFFF"/>
                </a:highlight>
              </a:rPr>
              <a:t>Конкуренти</a:t>
            </a:r>
            <a:r>
              <a:rPr lang="ru-RU" b="1" dirty="0">
                <a:highlight>
                  <a:srgbClr val="FFFFFF"/>
                </a:highlight>
              </a:rPr>
              <a:t>:</a:t>
            </a:r>
            <a:r>
              <a:rPr lang="ru-RU" dirty="0">
                <a:highlight>
                  <a:srgbClr val="FFFFFF"/>
                </a:highlight>
              </a:rPr>
              <a:t> </a:t>
            </a:r>
            <a:r>
              <a:rPr lang="ru-RU" dirty="0" err="1">
                <a:highlight>
                  <a:srgbClr val="FFFFFF"/>
                </a:highlight>
              </a:rPr>
              <a:t>Tuya</a:t>
            </a:r>
            <a:r>
              <a:rPr lang="ru-RU" dirty="0">
                <a:highlight>
                  <a:srgbClr val="FFFFFF"/>
                </a:highlight>
              </a:rPr>
              <a:t>, Xiaomi, </a:t>
            </a:r>
            <a:r>
              <a:rPr lang="ru-RU" dirty="0" err="1">
                <a:highlight>
                  <a:srgbClr val="FFFFFF"/>
                </a:highlight>
              </a:rPr>
              <a:t>Sonoff</a:t>
            </a:r>
            <a:endParaRPr lang="ru-RU" dirty="0">
              <a:highlight>
                <a:srgbClr val="FFFFFF"/>
              </a:highlight>
            </a:endParaRPr>
          </a:p>
          <a:p>
            <a:pPr marL="0" lvl="0" indent="0">
              <a:spcBef>
                <a:spcPts val="1500"/>
              </a:spcBef>
              <a:buNone/>
            </a:pPr>
            <a:r>
              <a:rPr lang="ru-RU" b="1" dirty="0" err="1"/>
              <a:t>Недоліки</a:t>
            </a:r>
            <a:r>
              <a:rPr lang="ru-RU" b="1" dirty="0"/>
              <a:t> та </a:t>
            </a:r>
            <a:r>
              <a:rPr lang="ru-RU" b="1" dirty="0" err="1"/>
              <a:t>прогалини</a:t>
            </a:r>
            <a:r>
              <a:rPr lang="ru-RU" b="1" dirty="0"/>
              <a:t>: </a:t>
            </a:r>
            <a:r>
              <a:rPr lang="ru-RU" dirty="0" err="1"/>
              <a:t>Залежність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Інтернету</a:t>
            </a:r>
            <a:r>
              <a:rPr lang="ru-RU" dirty="0"/>
              <a:t> (</a:t>
            </a:r>
            <a:r>
              <a:rPr lang="ru-RU" dirty="0" err="1"/>
              <a:t>хмарні</a:t>
            </a:r>
            <a:r>
              <a:rPr lang="ru-RU" dirty="0"/>
              <a:t> </a:t>
            </a:r>
            <a:r>
              <a:rPr lang="ru-RU" dirty="0" err="1"/>
              <a:t>сервери</a:t>
            </a:r>
            <a:r>
              <a:rPr lang="ru-RU" dirty="0"/>
              <a:t>), </a:t>
            </a:r>
            <a:r>
              <a:rPr lang="ru-RU" dirty="0" err="1"/>
              <a:t>високе</a:t>
            </a:r>
            <a:r>
              <a:rPr lang="ru-RU" dirty="0"/>
              <a:t> </a:t>
            </a:r>
            <a:r>
              <a:rPr lang="ru-RU" dirty="0" err="1"/>
              <a:t>енергоспоживання</a:t>
            </a:r>
            <a:r>
              <a:rPr lang="ru-RU" dirty="0"/>
              <a:t> </a:t>
            </a:r>
            <a:r>
              <a:rPr lang="en-US" dirty="0"/>
              <a:t>Wi-Fi </a:t>
            </a:r>
            <a:r>
              <a:rPr lang="ru-RU" dirty="0" err="1"/>
              <a:t>датчиків</a:t>
            </a:r>
            <a:r>
              <a:rPr lang="ru-RU" dirty="0"/>
              <a:t>, </a:t>
            </a:r>
            <a:r>
              <a:rPr lang="ru-RU" dirty="0" err="1"/>
              <a:t>потенційні</a:t>
            </a:r>
            <a:r>
              <a:rPr lang="ru-RU" dirty="0"/>
              <a:t> </a:t>
            </a:r>
            <a:r>
              <a:rPr lang="ru-RU" dirty="0" err="1"/>
              <a:t>загрози</a:t>
            </a:r>
            <a:r>
              <a:rPr lang="ru-RU" dirty="0"/>
              <a:t> </a:t>
            </a:r>
            <a:r>
              <a:rPr lang="ru-RU" dirty="0" err="1"/>
              <a:t>приватності</a:t>
            </a:r>
            <a:r>
              <a:rPr lang="ru-RU" dirty="0"/>
              <a:t>.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ru-RU" b="1" dirty="0"/>
              <a:t>Чим наш </a:t>
            </a:r>
            <a:r>
              <a:rPr lang="ru-RU" b="1" dirty="0" err="1"/>
              <a:t>проєкт</a:t>
            </a:r>
            <a:r>
              <a:rPr lang="ru-RU" b="1" dirty="0"/>
              <a:t> </a:t>
            </a:r>
            <a:r>
              <a:rPr lang="ru-RU" b="1" dirty="0" err="1"/>
              <a:t>кращий</a:t>
            </a:r>
            <a:r>
              <a:rPr lang="ru-RU" b="1" dirty="0"/>
              <a:t>: </a:t>
            </a:r>
            <a:r>
              <a:rPr lang="ru-RU" dirty="0" err="1"/>
              <a:t>Повна</a:t>
            </a:r>
            <a:r>
              <a:rPr lang="ru-RU" dirty="0"/>
              <a:t> локальна </a:t>
            </a:r>
            <a:r>
              <a:rPr lang="ru-RU" dirty="0" err="1"/>
              <a:t>автономність</a:t>
            </a:r>
            <a:r>
              <a:rPr lang="ru-RU" dirty="0"/>
              <a:t>, </a:t>
            </a:r>
            <a:r>
              <a:rPr lang="ru-RU" dirty="0" err="1"/>
              <a:t>висока</a:t>
            </a:r>
            <a:r>
              <a:rPr lang="ru-RU" dirty="0"/>
              <a:t> </a:t>
            </a:r>
            <a:r>
              <a:rPr lang="ru-RU" dirty="0" err="1"/>
              <a:t>швидкість</a:t>
            </a:r>
            <a:r>
              <a:rPr lang="ru-RU" dirty="0"/>
              <a:t> </a:t>
            </a:r>
            <a:r>
              <a:rPr lang="ru-RU" dirty="0" err="1"/>
              <a:t>реагування</a:t>
            </a:r>
            <a:r>
              <a:rPr lang="ru-RU" dirty="0"/>
              <a:t> та </a:t>
            </a:r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en-US" dirty="0"/>
              <a:t>Zigbee.</a:t>
            </a:r>
            <a:endParaRPr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-RU" b="1" dirty="0">
                <a:highlight>
                  <a:srgbClr val="FFFFFF"/>
                </a:highlight>
              </a:rPr>
              <a:t>У </a:t>
            </a:r>
            <a:r>
              <a:rPr lang="ru-RU" b="1" dirty="0" err="1">
                <a:highlight>
                  <a:srgbClr val="FFFFFF"/>
                </a:highlight>
              </a:rPr>
              <a:t>чому</a:t>
            </a:r>
            <a:r>
              <a:rPr lang="ru-RU" b="1" dirty="0">
                <a:highlight>
                  <a:srgbClr val="FFFFFF"/>
                </a:highlight>
              </a:rPr>
              <a:t> </a:t>
            </a:r>
            <a:r>
              <a:rPr lang="ru-RU" b="1" dirty="0" err="1">
                <a:highlight>
                  <a:srgbClr val="FFFFFF"/>
                </a:highlight>
              </a:rPr>
              <a:t>полягає</a:t>
            </a:r>
            <a:r>
              <a:rPr lang="ru-RU" b="1" dirty="0">
                <a:highlight>
                  <a:srgbClr val="FFFFFF"/>
                </a:highlight>
              </a:rPr>
              <a:t> проблема:</a:t>
            </a:r>
            <a:r>
              <a:rPr lang="ru-RU" dirty="0">
                <a:highlight>
                  <a:srgbClr val="FFFFFF"/>
                </a:highlight>
              </a:rPr>
              <a:t> Потреба у </a:t>
            </a:r>
            <a:r>
              <a:rPr lang="ru-RU" dirty="0" err="1">
                <a:highlight>
                  <a:srgbClr val="FFFFFF"/>
                </a:highlight>
              </a:rPr>
              <a:t>надійному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інструменті</a:t>
            </a:r>
            <a:r>
              <a:rPr lang="ru-RU" dirty="0">
                <a:highlight>
                  <a:srgbClr val="FFFFFF"/>
                </a:highlight>
              </a:rPr>
              <a:t>, </a:t>
            </a:r>
            <a:r>
              <a:rPr lang="ru-RU" dirty="0" err="1">
                <a:highlight>
                  <a:srgbClr val="FFFFFF"/>
                </a:highlight>
              </a:rPr>
              <a:t>який</a:t>
            </a:r>
            <a:r>
              <a:rPr lang="ru-RU" dirty="0">
                <a:highlight>
                  <a:srgbClr val="FFFFFF"/>
                </a:highlight>
              </a:rPr>
              <a:t> не </a:t>
            </a:r>
            <a:r>
              <a:rPr lang="ru-RU" dirty="0" err="1">
                <a:highlight>
                  <a:srgbClr val="FFFFFF"/>
                </a:highlight>
              </a:rPr>
              <a:t>залежить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від</a:t>
            </a:r>
            <a:r>
              <a:rPr lang="ru-RU" dirty="0">
                <a:highlight>
                  <a:srgbClr val="FFFFFF"/>
                </a:highlight>
              </a:rPr>
              <a:t> провайдера.</a:t>
            </a:r>
          </a:p>
          <a:p>
            <a:pPr marL="114300" indent="0">
              <a:buNone/>
            </a:pPr>
            <a:endParaRPr lang="ru-RU" dirty="0">
              <a:highlight>
                <a:srgbClr val="FFFFFF"/>
              </a:highlight>
            </a:endParaRPr>
          </a:p>
          <a:p>
            <a:pPr marL="114300" indent="0">
              <a:buNone/>
            </a:pPr>
            <a:r>
              <a:rPr lang="ru-RU" b="1" dirty="0">
                <a:highlight>
                  <a:srgbClr val="FFFFFF"/>
                </a:highlight>
              </a:rPr>
              <a:t>Яке </a:t>
            </a:r>
            <a:r>
              <a:rPr lang="ru-RU" b="1" dirty="0" err="1">
                <a:highlight>
                  <a:srgbClr val="FFFFFF"/>
                </a:highlight>
              </a:rPr>
              <a:t>рішення</a:t>
            </a:r>
            <a:r>
              <a:rPr lang="ru-RU" b="1" dirty="0">
                <a:highlight>
                  <a:srgbClr val="FFFFFF"/>
                </a:highlight>
              </a:rPr>
              <a:t> ми </a:t>
            </a:r>
            <a:r>
              <a:rPr lang="ru-RU" b="1" dirty="0" err="1">
                <a:highlight>
                  <a:srgbClr val="FFFFFF"/>
                </a:highlight>
              </a:rPr>
              <a:t>пропонуємо</a:t>
            </a:r>
            <a:r>
              <a:rPr lang="ru-RU" b="1" dirty="0">
                <a:highlight>
                  <a:srgbClr val="FFFFFF"/>
                </a:highlight>
              </a:rPr>
              <a:t>:</a:t>
            </a:r>
            <a:r>
              <a:rPr lang="ru-RU" dirty="0">
                <a:highlight>
                  <a:srgbClr val="FFFFFF"/>
                </a:highlight>
              </a:rPr>
              <a:t> </a:t>
            </a:r>
            <a:r>
              <a:rPr lang="ru-RU" dirty="0" err="1">
                <a:highlight>
                  <a:srgbClr val="FFFFFF"/>
                </a:highlight>
              </a:rPr>
              <a:t>Розробку</a:t>
            </a:r>
            <a:r>
              <a:rPr lang="ru-RU" dirty="0">
                <a:highlight>
                  <a:srgbClr val="FFFFFF"/>
                </a:highlight>
              </a:rPr>
              <a:t> веб-</a:t>
            </a:r>
            <a:r>
              <a:rPr lang="ru-RU" dirty="0" err="1">
                <a:highlight>
                  <a:srgbClr val="FFFFFF"/>
                </a:highlight>
              </a:rPr>
              <a:t>застосунку</a:t>
            </a:r>
            <a:r>
              <a:rPr lang="ru-RU" dirty="0">
                <a:highlight>
                  <a:srgbClr val="FFFFFF"/>
                </a:highlight>
              </a:rPr>
              <a:t> для </a:t>
            </a:r>
            <a:r>
              <a:rPr lang="ru-RU" dirty="0" err="1">
                <a:highlight>
                  <a:srgbClr val="FFFFFF"/>
                </a:highlight>
              </a:rPr>
              <a:t>моніторингу</a:t>
            </a:r>
            <a:r>
              <a:rPr lang="ru-RU" dirty="0">
                <a:highlight>
                  <a:srgbClr val="FFFFFF"/>
                </a:highlight>
              </a:rPr>
              <a:t> та </a:t>
            </a:r>
            <a:r>
              <a:rPr lang="ru-RU" dirty="0" err="1">
                <a:highlight>
                  <a:srgbClr val="FFFFFF"/>
                </a:highlight>
              </a:rPr>
              <a:t>керування</a:t>
            </a:r>
            <a:r>
              <a:rPr lang="ru-RU" dirty="0">
                <a:highlight>
                  <a:srgbClr val="FFFFFF"/>
                </a:highlight>
              </a:rPr>
              <a:t> у реальному </a:t>
            </a:r>
            <a:r>
              <a:rPr lang="ru-RU" dirty="0" err="1">
                <a:highlight>
                  <a:srgbClr val="FFFFFF"/>
                </a:highlight>
              </a:rPr>
              <a:t>часі</a:t>
            </a:r>
            <a:r>
              <a:rPr lang="ru-RU" dirty="0">
                <a:highlight>
                  <a:srgbClr val="FFFFFF"/>
                </a:highlight>
              </a:rPr>
              <a:t>.</a:t>
            </a:r>
          </a:p>
          <a:p>
            <a:pPr marL="114300" indent="0">
              <a:buNone/>
            </a:pPr>
            <a:endParaRPr lang="ru-RU" dirty="0">
              <a:highlight>
                <a:srgbClr val="FFFFFF"/>
              </a:highlight>
            </a:endParaRPr>
          </a:p>
          <a:p>
            <a:pPr marL="114300" indent="0">
              <a:buNone/>
            </a:pPr>
            <a:r>
              <a:rPr lang="ru-RU" b="1" dirty="0" err="1">
                <a:highlight>
                  <a:srgbClr val="FFFFFF"/>
                </a:highlight>
              </a:rPr>
              <a:t>Що</a:t>
            </a:r>
            <a:r>
              <a:rPr lang="ru-RU" b="1" dirty="0">
                <a:highlight>
                  <a:srgbClr val="FFFFFF"/>
                </a:highlight>
              </a:rPr>
              <a:t> </a:t>
            </a:r>
            <a:r>
              <a:rPr lang="ru-RU" b="1" dirty="0" err="1">
                <a:highlight>
                  <a:srgbClr val="FFFFFF"/>
                </a:highlight>
              </a:rPr>
              <a:t>очікується</a:t>
            </a:r>
            <a:r>
              <a:rPr lang="ru-RU" b="1" dirty="0">
                <a:highlight>
                  <a:srgbClr val="FFFFFF"/>
                </a:highlight>
              </a:rPr>
              <a:t> в </a:t>
            </a:r>
            <a:r>
              <a:rPr lang="ru-RU" b="1" dirty="0" err="1">
                <a:highlight>
                  <a:srgbClr val="FFFFFF"/>
                </a:highlight>
              </a:rPr>
              <a:t>результаті</a:t>
            </a:r>
            <a:r>
              <a:rPr lang="ru-RU" b="1" dirty="0">
                <a:highlight>
                  <a:srgbClr val="FFFFFF"/>
                </a:highlight>
              </a:rPr>
              <a:t>:</a:t>
            </a:r>
            <a:r>
              <a:rPr lang="ru-RU" dirty="0">
                <a:highlight>
                  <a:srgbClr val="FFFFFF"/>
                </a:highlight>
              </a:rPr>
              <a:t> </a:t>
            </a:r>
            <a:r>
              <a:rPr lang="ru-RU" dirty="0" err="1">
                <a:highlight>
                  <a:srgbClr val="FFFFFF"/>
                </a:highlight>
              </a:rPr>
              <a:t>Функціональний</a:t>
            </a:r>
            <a:r>
              <a:rPr lang="ru-RU" dirty="0">
                <a:highlight>
                  <a:srgbClr val="FFFFFF"/>
                </a:highlight>
              </a:rPr>
              <a:t> прототип </a:t>
            </a:r>
            <a:r>
              <a:rPr lang="ru-RU" dirty="0" err="1">
                <a:highlight>
                  <a:srgbClr val="FFFFFF"/>
                </a:highlight>
              </a:rPr>
              <a:t>системи</a:t>
            </a:r>
            <a:r>
              <a:rPr lang="ru-RU" dirty="0">
                <a:highlight>
                  <a:srgbClr val="FFFFFF"/>
                </a:highlight>
              </a:rPr>
              <a:t>, </a:t>
            </a:r>
            <a:r>
              <a:rPr lang="ru-RU" dirty="0" err="1">
                <a:highlight>
                  <a:srgbClr val="FFFFFF"/>
                </a:highlight>
              </a:rPr>
              <a:t>здатний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забезпечити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стабільний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локальний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зв'язок</a:t>
            </a:r>
            <a:r>
              <a:rPr lang="ru-RU" dirty="0">
                <a:highlight>
                  <a:srgbClr val="FFFFFF"/>
                </a:highlight>
              </a:rPr>
              <a:t> та </a:t>
            </a:r>
            <a:r>
              <a:rPr lang="ru-RU" dirty="0" err="1">
                <a:highlight>
                  <a:srgbClr val="FFFFFF"/>
                </a:highlight>
              </a:rPr>
              <a:t>керування</a:t>
            </a:r>
            <a:r>
              <a:rPr lang="ru-RU" dirty="0">
                <a:highlight>
                  <a:srgbClr val="FFFFFF"/>
                </a:highlight>
              </a:rPr>
              <a:t> пристроями через браузер.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207903" y="8947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ru-RU" b="1" dirty="0" err="1">
                <a:highlight>
                  <a:srgbClr val="FFFFFF"/>
                </a:highlight>
              </a:rPr>
              <a:t>Frontend</a:t>
            </a:r>
            <a:r>
              <a:rPr lang="ru-RU" b="1" dirty="0">
                <a:highlight>
                  <a:srgbClr val="FFFFFF"/>
                </a:highlight>
              </a:rPr>
              <a:t> (</a:t>
            </a:r>
            <a:r>
              <a:rPr lang="ru-RU" b="1" dirty="0" err="1">
                <a:highlight>
                  <a:srgbClr val="FFFFFF"/>
                </a:highlight>
              </a:rPr>
              <a:t>Клієнтська</a:t>
            </a:r>
            <a:r>
              <a:rPr lang="ru-RU" b="1" dirty="0">
                <a:highlight>
                  <a:srgbClr val="FFFFFF"/>
                </a:highlight>
              </a:rPr>
              <a:t> </a:t>
            </a:r>
            <a:r>
              <a:rPr lang="ru-RU" b="1" dirty="0" err="1">
                <a:highlight>
                  <a:srgbClr val="FFFFFF"/>
                </a:highlight>
              </a:rPr>
              <a:t>частина</a:t>
            </a:r>
            <a:r>
              <a:rPr lang="ru-RU" b="1" dirty="0">
                <a:highlight>
                  <a:srgbClr val="FFFFFF"/>
                </a:highlight>
              </a:rPr>
              <a:t>):</a:t>
            </a:r>
            <a:r>
              <a:rPr lang="ru-RU" dirty="0">
                <a:highlight>
                  <a:srgbClr val="FFFFFF"/>
                </a:highlight>
              </a:rPr>
              <a:t> </a:t>
            </a:r>
            <a:r>
              <a:rPr lang="ru-RU" dirty="0" err="1">
                <a:highlight>
                  <a:srgbClr val="FFFFFF"/>
                </a:highlight>
              </a:rPr>
              <a:t>React</a:t>
            </a:r>
            <a:r>
              <a:rPr lang="ru-RU" dirty="0">
                <a:highlight>
                  <a:srgbClr val="FFFFFF"/>
                </a:highlight>
              </a:rPr>
              <a:t>, </a:t>
            </a:r>
            <a:r>
              <a:rPr lang="ru-RU" dirty="0" err="1">
                <a:highlight>
                  <a:srgbClr val="FFFFFF"/>
                </a:highlight>
              </a:rPr>
              <a:t>TypeScript</a:t>
            </a:r>
            <a:r>
              <a:rPr lang="ru-RU" dirty="0">
                <a:highlight>
                  <a:srgbClr val="FFFFFF"/>
                </a:highlight>
              </a:rPr>
              <a:t>, </a:t>
            </a:r>
            <a:r>
              <a:rPr lang="ru-RU" dirty="0" err="1">
                <a:highlight>
                  <a:srgbClr val="FFFFFF"/>
                </a:highlight>
              </a:rPr>
              <a:t>Vite</a:t>
            </a:r>
            <a:r>
              <a:rPr lang="ru-RU" dirty="0">
                <a:highlight>
                  <a:srgbClr val="FFFFFF"/>
                </a:highlight>
              </a:rPr>
              <a:t>, </a:t>
            </a:r>
            <a:r>
              <a:rPr lang="ru-RU" dirty="0" err="1">
                <a:highlight>
                  <a:srgbClr val="FFFFFF"/>
                </a:highlight>
              </a:rPr>
              <a:t>Tailwind</a:t>
            </a:r>
            <a:r>
              <a:rPr lang="ru-RU" dirty="0">
                <a:highlight>
                  <a:srgbClr val="FFFFFF"/>
                </a:highlight>
              </a:rPr>
              <a:t> CSS для </a:t>
            </a:r>
            <a:r>
              <a:rPr lang="ru-RU" dirty="0" err="1">
                <a:highlight>
                  <a:srgbClr val="FFFFFF"/>
                </a:highlight>
              </a:rPr>
              <a:t>інтерфейсу</a:t>
            </a:r>
            <a:r>
              <a:rPr lang="ru-RU" dirty="0">
                <a:highlight>
                  <a:srgbClr val="FFFFFF"/>
                </a:highlight>
              </a:rPr>
              <a:t>, </a:t>
            </a:r>
            <a:r>
              <a:rPr lang="ru-RU" dirty="0" err="1">
                <a:highlight>
                  <a:srgbClr val="FFFFFF"/>
                </a:highlight>
              </a:rPr>
              <a:t>LocalStorage</a:t>
            </a:r>
            <a:r>
              <a:rPr lang="ru-RU" dirty="0">
                <a:highlight>
                  <a:srgbClr val="FFFFFF"/>
                </a:highlight>
              </a:rPr>
              <a:t> для автономного </a:t>
            </a:r>
            <a:r>
              <a:rPr lang="ru-RU" dirty="0" err="1">
                <a:highlight>
                  <a:srgbClr val="FFFFFF"/>
                </a:highlight>
              </a:rPr>
              <a:t>збереження</a:t>
            </a:r>
            <a:r>
              <a:rPr lang="ru-RU" dirty="0">
                <a:highlight>
                  <a:srgbClr val="FFFFFF"/>
                </a:highlight>
              </a:rPr>
              <a:t> стану.</a:t>
            </a:r>
          </a:p>
          <a:p>
            <a:r>
              <a:rPr lang="ru-RU" b="1" dirty="0" err="1">
                <a:highlight>
                  <a:srgbClr val="FFFFFF"/>
                </a:highlight>
              </a:rPr>
              <a:t>Інтеграційний</a:t>
            </a:r>
            <a:r>
              <a:rPr lang="ru-RU" b="1" dirty="0">
                <a:highlight>
                  <a:srgbClr val="FFFFFF"/>
                </a:highlight>
              </a:rPr>
              <a:t> шар (</a:t>
            </a:r>
            <a:r>
              <a:rPr lang="ru-RU" b="1" dirty="0" err="1">
                <a:highlight>
                  <a:srgbClr val="FFFFFF"/>
                </a:highlight>
              </a:rPr>
              <a:t>Backend</a:t>
            </a:r>
            <a:r>
              <a:rPr lang="ru-RU" b="1" dirty="0">
                <a:highlight>
                  <a:srgbClr val="FFFFFF"/>
                </a:highlight>
              </a:rPr>
              <a:t> / </a:t>
            </a:r>
            <a:r>
              <a:rPr lang="ru-RU" b="1" dirty="0" err="1">
                <a:highlight>
                  <a:srgbClr val="FFFFFF"/>
                </a:highlight>
              </a:rPr>
              <a:t>Proxy</a:t>
            </a:r>
            <a:r>
              <a:rPr lang="ru-RU" b="1" dirty="0">
                <a:highlight>
                  <a:srgbClr val="FFFFFF"/>
                </a:highlight>
              </a:rPr>
              <a:t>):</a:t>
            </a:r>
            <a:r>
              <a:rPr lang="ru-RU" dirty="0">
                <a:highlight>
                  <a:srgbClr val="FFFFFF"/>
                </a:highlight>
              </a:rPr>
              <a:t> C# </a:t>
            </a:r>
            <a:r>
              <a:rPr lang="ru-RU" dirty="0" err="1">
                <a:highlight>
                  <a:srgbClr val="FFFFFF"/>
                </a:highlight>
              </a:rPr>
              <a:t>Proxy</a:t>
            </a:r>
            <a:r>
              <a:rPr lang="ru-RU" dirty="0">
                <a:highlight>
                  <a:srgbClr val="FFFFFF"/>
                </a:highlight>
              </a:rPr>
              <a:t> Server для </a:t>
            </a:r>
            <a:r>
              <a:rPr lang="ru-RU" dirty="0" err="1">
                <a:highlight>
                  <a:srgbClr val="FFFFFF"/>
                </a:highlight>
              </a:rPr>
              <a:t>маршрутизації</a:t>
            </a:r>
            <a:r>
              <a:rPr lang="ru-RU" dirty="0">
                <a:highlight>
                  <a:srgbClr val="FFFFFF"/>
                </a:highlight>
              </a:rPr>
              <a:t> та </a:t>
            </a:r>
            <a:r>
              <a:rPr lang="ru-RU" dirty="0" err="1">
                <a:highlight>
                  <a:srgbClr val="FFFFFF"/>
                </a:highlight>
              </a:rPr>
              <a:t>вирішення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конфліктів</a:t>
            </a:r>
            <a:r>
              <a:rPr lang="ru-RU" dirty="0">
                <a:highlight>
                  <a:srgbClr val="FFFFFF"/>
                </a:highlight>
              </a:rPr>
              <a:t> JSON-</a:t>
            </a:r>
            <a:r>
              <a:rPr lang="ru-RU" dirty="0" err="1">
                <a:highlight>
                  <a:srgbClr val="FFFFFF"/>
                </a:highlight>
              </a:rPr>
              <a:t>регістрів</a:t>
            </a:r>
            <a:r>
              <a:rPr lang="ru-RU" dirty="0">
                <a:highlight>
                  <a:srgbClr val="FFFFFF"/>
                </a:highlight>
              </a:rPr>
              <a:t>.</a:t>
            </a:r>
          </a:p>
          <a:p>
            <a:r>
              <a:rPr lang="ru-RU" b="1" dirty="0" err="1">
                <a:highlight>
                  <a:srgbClr val="FFFFFF"/>
                </a:highlight>
              </a:rPr>
              <a:t>Апаратна</a:t>
            </a:r>
            <a:r>
              <a:rPr lang="ru-RU" b="1" dirty="0">
                <a:highlight>
                  <a:srgbClr val="FFFFFF"/>
                </a:highlight>
              </a:rPr>
              <a:t> </a:t>
            </a:r>
            <a:r>
              <a:rPr lang="ru-RU" b="1" dirty="0" err="1">
                <a:highlight>
                  <a:srgbClr val="FFFFFF"/>
                </a:highlight>
              </a:rPr>
              <a:t>частина</a:t>
            </a:r>
            <a:r>
              <a:rPr lang="ru-RU" b="1" dirty="0">
                <a:highlight>
                  <a:srgbClr val="FFFFFF"/>
                </a:highlight>
              </a:rPr>
              <a:t>:</a:t>
            </a:r>
            <a:r>
              <a:rPr lang="ru-RU" dirty="0">
                <a:highlight>
                  <a:srgbClr val="FFFFFF"/>
                </a:highlight>
              </a:rPr>
              <a:t> </a:t>
            </a:r>
            <a:r>
              <a:rPr lang="ru-RU" dirty="0" err="1">
                <a:highlight>
                  <a:srgbClr val="FFFFFF"/>
                </a:highlight>
              </a:rPr>
              <a:t>Фізичний</a:t>
            </a:r>
            <a:r>
              <a:rPr lang="ru-RU" dirty="0">
                <a:highlight>
                  <a:srgbClr val="FFFFFF"/>
                </a:highlight>
              </a:rPr>
              <a:t> шлюз Philips </a:t>
            </a:r>
            <a:r>
              <a:rPr lang="ru-RU" dirty="0" err="1">
                <a:highlight>
                  <a:srgbClr val="FFFFFF"/>
                </a:highlight>
              </a:rPr>
              <a:t>Hue</a:t>
            </a:r>
            <a:r>
              <a:rPr lang="ru-RU" dirty="0">
                <a:highlight>
                  <a:srgbClr val="FFFFFF"/>
                </a:highlight>
              </a:rPr>
              <a:t> Bridge, протокол </a:t>
            </a:r>
            <a:r>
              <a:rPr lang="ru-RU" dirty="0" err="1">
                <a:highlight>
                  <a:srgbClr val="FFFFFF"/>
                </a:highlight>
              </a:rPr>
              <a:t>бездротового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зв'язку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Zigbee</a:t>
            </a:r>
            <a:r>
              <a:rPr lang="ru-RU" dirty="0">
                <a:highlight>
                  <a:srgbClr val="FFFFFF"/>
                </a:highlight>
              </a:rPr>
              <a:t>.</a:t>
            </a:r>
          </a:p>
          <a:p>
            <a:r>
              <a:rPr lang="ru-RU" b="1" dirty="0" err="1">
                <a:highlight>
                  <a:srgbClr val="FFFFFF"/>
                </a:highlight>
              </a:rPr>
              <a:t>Чому</a:t>
            </a:r>
            <a:r>
              <a:rPr lang="ru-RU" b="1" dirty="0">
                <a:highlight>
                  <a:srgbClr val="FFFFFF"/>
                </a:highlight>
              </a:rPr>
              <a:t> </a:t>
            </a:r>
            <a:r>
              <a:rPr lang="ru-RU" b="1" dirty="0" err="1">
                <a:highlight>
                  <a:srgbClr val="FFFFFF"/>
                </a:highlight>
              </a:rPr>
              <a:t>саме</a:t>
            </a:r>
            <a:r>
              <a:rPr lang="ru-RU" b="1" dirty="0">
                <a:highlight>
                  <a:srgbClr val="FFFFFF"/>
                </a:highlight>
              </a:rPr>
              <a:t> </a:t>
            </a:r>
            <a:r>
              <a:rPr lang="ru-RU" b="1" dirty="0" err="1">
                <a:highlight>
                  <a:srgbClr val="FFFFFF"/>
                </a:highlight>
              </a:rPr>
              <a:t>ці</a:t>
            </a:r>
            <a:r>
              <a:rPr lang="ru-RU" b="1" dirty="0">
                <a:highlight>
                  <a:srgbClr val="FFFFFF"/>
                </a:highlight>
              </a:rPr>
              <a:t> </a:t>
            </a:r>
            <a:r>
              <a:rPr lang="ru-RU" b="1" dirty="0" err="1">
                <a:highlight>
                  <a:srgbClr val="FFFFFF"/>
                </a:highlight>
              </a:rPr>
              <a:t>технології</a:t>
            </a:r>
            <a:r>
              <a:rPr lang="ru-RU" b="1" dirty="0">
                <a:highlight>
                  <a:srgbClr val="FFFFFF"/>
                </a:highlight>
              </a:rPr>
              <a:t>:</a:t>
            </a:r>
            <a:r>
              <a:rPr lang="ru-RU" dirty="0">
                <a:highlight>
                  <a:srgbClr val="FFFFFF"/>
                </a:highlight>
              </a:rPr>
              <a:t> </a:t>
            </a:r>
            <a:r>
              <a:rPr lang="ru-RU" dirty="0" err="1">
                <a:highlight>
                  <a:srgbClr val="FFFFFF"/>
                </a:highlight>
              </a:rPr>
              <a:t>Забезпечення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стійкості</a:t>
            </a:r>
            <a:r>
              <a:rPr lang="ru-RU" dirty="0">
                <a:highlight>
                  <a:srgbClr val="FFFFFF"/>
                </a:highlight>
              </a:rPr>
              <a:t> до </a:t>
            </a:r>
            <a:r>
              <a:rPr lang="ru-RU" dirty="0" err="1">
                <a:highlight>
                  <a:srgbClr val="FFFFFF"/>
                </a:highlight>
              </a:rPr>
              <a:t>мережевих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збоїв</a:t>
            </a:r>
            <a:r>
              <a:rPr lang="ru-RU" dirty="0">
                <a:highlight>
                  <a:srgbClr val="FFFFFF"/>
                </a:highlight>
              </a:rPr>
              <a:t>, </a:t>
            </a:r>
            <a:r>
              <a:rPr lang="ru-RU" dirty="0" err="1">
                <a:highlight>
                  <a:srgbClr val="FFFFFF"/>
                </a:highlight>
              </a:rPr>
              <a:t>безшовна</a:t>
            </a:r>
            <a:r>
              <a:rPr lang="ru-RU" dirty="0">
                <a:highlight>
                  <a:srgbClr val="FFFFFF"/>
                </a:highlight>
              </a:rPr>
              <a:t> робота як </a:t>
            </a:r>
            <a:r>
              <a:rPr lang="ru-RU" dirty="0" err="1">
                <a:highlight>
                  <a:srgbClr val="FFFFFF"/>
                </a:highlight>
              </a:rPr>
              <a:t>із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фізичними</a:t>
            </a:r>
            <a:r>
              <a:rPr lang="ru-RU" dirty="0">
                <a:highlight>
                  <a:srgbClr val="FFFFFF"/>
                </a:highlight>
              </a:rPr>
              <a:t> шлюзами, так і з </a:t>
            </a:r>
            <a:r>
              <a:rPr lang="ru-RU" dirty="0" err="1">
                <a:highlight>
                  <a:srgbClr val="FFFFFF"/>
                </a:highlight>
              </a:rPr>
              <a:t>віртуальними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емуляторами</a:t>
            </a:r>
            <a:r>
              <a:rPr lang="ru-RU" dirty="0">
                <a:highlight>
                  <a:srgbClr val="FFFFFF"/>
                </a:highlight>
              </a:rPr>
              <a:t>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453900"/>
            <a:ext cx="3904425" cy="31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ru-RU" dirty="0">
                <a:highlight>
                  <a:srgbClr val="FFFFFF"/>
                </a:highlight>
              </a:rPr>
              <a:t>	</a:t>
            </a:r>
            <a:r>
              <a:rPr lang="ru-RU" dirty="0" err="1">
                <a:highlight>
                  <a:srgbClr val="FFFFFF"/>
                </a:highlight>
              </a:rPr>
              <a:t>Клієнтський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додаток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взаємодіє</a:t>
            </a:r>
            <a:r>
              <a:rPr lang="ru-RU" dirty="0">
                <a:highlight>
                  <a:srgbClr val="FFFFFF"/>
                </a:highlight>
              </a:rPr>
              <a:t> з </a:t>
            </a:r>
            <a:r>
              <a:rPr lang="ru-RU" dirty="0" err="1">
                <a:highlight>
                  <a:srgbClr val="FFFFFF"/>
                </a:highlight>
              </a:rPr>
              <a:t>проксі</a:t>
            </a:r>
            <a:r>
              <a:rPr lang="ru-RU" dirty="0">
                <a:highlight>
                  <a:srgbClr val="FFFFFF"/>
                </a:highlight>
              </a:rPr>
              <a:t>-сервером через REST API, </a:t>
            </a:r>
            <a:r>
              <a:rPr lang="ru-RU" dirty="0" err="1">
                <a:highlight>
                  <a:srgbClr val="FFFFFF"/>
                </a:highlight>
              </a:rPr>
              <a:t>який</a:t>
            </a:r>
            <a:r>
              <a:rPr lang="ru-RU" dirty="0">
                <a:highlight>
                  <a:srgbClr val="FFFFFF"/>
                </a:highlight>
              </a:rPr>
              <a:t>, у свою </a:t>
            </a:r>
            <a:r>
              <a:rPr lang="ru-RU" dirty="0" err="1">
                <a:highlight>
                  <a:srgbClr val="FFFFFF"/>
                </a:highlight>
              </a:rPr>
              <a:t>чергу</a:t>
            </a:r>
            <a:r>
              <a:rPr lang="ru-RU" dirty="0">
                <a:highlight>
                  <a:srgbClr val="FFFFFF"/>
                </a:highlight>
              </a:rPr>
              <a:t>, </a:t>
            </a:r>
            <a:r>
              <a:rPr lang="ru-RU" dirty="0" err="1">
                <a:highlight>
                  <a:srgbClr val="FFFFFF"/>
                </a:highlight>
              </a:rPr>
              <a:t>керує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або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віртуальним</a:t>
            </a:r>
            <a:r>
              <a:rPr lang="ru-RU" dirty="0">
                <a:highlight>
                  <a:srgbClr val="FFFFFF"/>
                </a:highlight>
              </a:rPr>
              <a:t> Java-</a:t>
            </a:r>
            <a:r>
              <a:rPr lang="ru-RU" dirty="0" err="1">
                <a:highlight>
                  <a:srgbClr val="FFFFFF"/>
                </a:highlight>
              </a:rPr>
              <a:t>емулятором</a:t>
            </a:r>
            <a:r>
              <a:rPr lang="ru-RU" dirty="0">
                <a:highlight>
                  <a:srgbClr val="FFFFFF"/>
                </a:highlight>
              </a:rPr>
              <a:t>, </a:t>
            </a:r>
            <a:r>
              <a:rPr lang="ru-RU" dirty="0" err="1">
                <a:highlight>
                  <a:srgbClr val="FFFFFF"/>
                </a:highlight>
              </a:rPr>
              <a:t>або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фізичним</a:t>
            </a:r>
            <a:r>
              <a:rPr lang="ru-RU" dirty="0">
                <a:highlight>
                  <a:srgbClr val="FFFFFF"/>
                </a:highlight>
              </a:rPr>
              <a:t> мостом Philips </a:t>
            </a:r>
            <a:r>
              <a:rPr lang="ru-RU" dirty="0" err="1">
                <a:highlight>
                  <a:srgbClr val="FFFFFF"/>
                </a:highlight>
              </a:rPr>
              <a:t>Hue</a:t>
            </a:r>
            <a:r>
              <a:rPr lang="ru-RU" dirty="0">
                <a:highlight>
                  <a:srgbClr val="FFFFFF"/>
                </a:highlight>
              </a:rPr>
              <a:t> по протоколу </a:t>
            </a:r>
            <a:r>
              <a:rPr lang="ru-RU" dirty="0" err="1">
                <a:highlight>
                  <a:srgbClr val="FFFFFF"/>
                </a:highlight>
              </a:rPr>
              <a:t>Zigbee</a:t>
            </a:r>
            <a:r>
              <a:rPr lang="ru-RU" dirty="0">
                <a:highlight>
                  <a:srgbClr val="FFFFFF"/>
                </a:highlight>
              </a:rPr>
              <a:t>. </a:t>
            </a:r>
            <a:r>
              <a:rPr lang="ru-RU" dirty="0" err="1">
                <a:highlight>
                  <a:srgbClr val="FFFFFF"/>
                </a:highlight>
              </a:rPr>
              <a:t>Всі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налаштування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зберігаються</a:t>
            </a:r>
            <a:r>
              <a:rPr lang="ru-RU" dirty="0">
                <a:highlight>
                  <a:srgbClr val="FFFFFF"/>
                </a:highlight>
              </a:rPr>
              <a:t> в </a:t>
            </a:r>
            <a:r>
              <a:rPr lang="ru-RU" dirty="0" err="1">
                <a:highlight>
                  <a:srgbClr val="FFFFFF"/>
                </a:highlight>
              </a:rPr>
              <a:t>LocalStorage</a:t>
            </a:r>
            <a:r>
              <a:rPr lang="ru-RU" dirty="0">
                <a:highlight>
                  <a:srgbClr val="FFFFFF"/>
                </a:highlight>
              </a:rPr>
              <a:t>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BF35C0-CDA7-DBEC-9075-81D2A8A8C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905" y="1180959"/>
            <a:ext cx="374962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4771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-RU" b="1" dirty="0" err="1">
                <a:highlight>
                  <a:srgbClr val="FFFFFF"/>
                </a:highlight>
              </a:rPr>
              <a:t>React</a:t>
            </a:r>
            <a:r>
              <a:rPr lang="ru-RU" b="1" dirty="0">
                <a:highlight>
                  <a:srgbClr val="FFFFFF"/>
                </a:highlight>
              </a:rPr>
              <a:t> та </a:t>
            </a:r>
            <a:r>
              <a:rPr lang="ru-RU" b="1" dirty="0" err="1">
                <a:highlight>
                  <a:srgbClr val="FFFFFF"/>
                </a:highlight>
              </a:rPr>
              <a:t>TypeScript</a:t>
            </a:r>
            <a:r>
              <a:rPr lang="ru-RU" b="1" dirty="0">
                <a:highlight>
                  <a:srgbClr val="FFFFFF"/>
                </a:highlight>
              </a:rPr>
              <a:t>:</a:t>
            </a:r>
            <a:r>
              <a:rPr lang="ru-RU" dirty="0">
                <a:highlight>
                  <a:srgbClr val="FFFFFF"/>
                </a:highlight>
              </a:rPr>
              <a:t> основа для </a:t>
            </a:r>
            <a:r>
              <a:rPr lang="ru-RU" dirty="0" err="1">
                <a:highlight>
                  <a:srgbClr val="FFFFFF"/>
                </a:highlight>
              </a:rPr>
              <a:t>побудови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надійної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компонентної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архітектури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клієнта</a:t>
            </a:r>
            <a:r>
              <a:rPr lang="ru-RU" dirty="0">
                <a:highlight>
                  <a:srgbClr val="FFFFFF"/>
                </a:highlight>
              </a:rPr>
              <a:t>.</a:t>
            </a:r>
          </a:p>
          <a:p>
            <a:pPr marL="114300" indent="0">
              <a:buNone/>
            </a:pPr>
            <a:r>
              <a:rPr lang="ru-RU" b="1" dirty="0">
                <a:highlight>
                  <a:srgbClr val="FFFFFF"/>
                </a:highlight>
              </a:rPr>
              <a:t>C# / .NET:</a:t>
            </a:r>
            <a:r>
              <a:rPr lang="ru-RU" dirty="0">
                <a:highlight>
                  <a:srgbClr val="FFFFFF"/>
                </a:highlight>
              </a:rPr>
              <a:t> </a:t>
            </a:r>
            <a:r>
              <a:rPr lang="ru-RU" dirty="0" err="1">
                <a:highlight>
                  <a:srgbClr val="FFFFFF"/>
                </a:highlight>
              </a:rPr>
              <a:t>розробка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проміжного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інтеграційного</a:t>
            </a:r>
            <a:r>
              <a:rPr lang="ru-RU" dirty="0">
                <a:highlight>
                  <a:srgbClr val="FFFFFF"/>
                </a:highlight>
              </a:rPr>
              <a:t> шлюзу (</a:t>
            </a:r>
            <a:r>
              <a:rPr lang="ru-RU" dirty="0" err="1">
                <a:highlight>
                  <a:srgbClr val="FFFFFF"/>
                </a:highlight>
              </a:rPr>
              <a:t>Proxy</a:t>
            </a:r>
            <a:r>
              <a:rPr lang="ru-RU" dirty="0">
                <a:highlight>
                  <a:srgbClr val="FFFFFF"/>
                </a:highlight>
              </a:rPr>
              <a:t> API).</a:t>
            </a:r>
          </a:p>
          <a:p>
            <a:pPr marL="114300" indent="0">
              <a:buNone/>
            </a:pPr>
            <a:r>
              <a:rPr lang="ru-RU" b="1" dirty="0">
                <a:highlight>
                  <a:srgbClr val="FFFFFF"/>
                </a:highlight>
              </a:rPr>
              <a:t>Java:</a:t>
            </a:r>
            <a:r>
              <a:rPr lang="ru-RU" dirty="0">
                <a:highlight>
                  <a:srgbClr val="FFFFFF"/>
                </a:highlight>
              </a:rPr>
              <a:t> запуск та </a:t>
            </a:r>
            <a:r>
              <a:rPr lang="ru-RU" dirty="0" err="1">
                <a:highlight>
                  <a:srgbClr val="FFFFFF"/>
                </a:highlight>
              </a:rPr>
              <a:t>віртуалізація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середовища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Hue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Emulator</a:t>
            </a:r>
            <a:r>
              <a:rPr lang="ru-RU" dirty="0">
                <a:highlight>
                  <a:srgbClr val="FFFFFF"/>
                </a:highlight>
              </a:rPr>
              <a:t>.</a:t>
            </a:r>
          </a:p>
          <a:p>
            <a:pPr marL="114300" indent="0">
              <a:buNone/>
            </a:pPr>
            <a:r>
              <a:rPr lang="ru-RU" b="1" dirty="0" err="1">
                <a:highlight>
                  <a:srgbClr val="FFFFFF"/>
                </a:highlight>
              </a:rPr>
              <a:t>Tailwind</a:t>
            </a:r>
            <a:r>
              <a:rPr lang="ru-RU" b="1" dirty="0">
                <a:highlight>
                  <a:srgbClr val="FFFFFF"/>
                </a:highlight>
              </a:rPr>
              <a:t> CSS:</a:t>
            </a:r>
            <a:r>
              <a:rPr lang="ru-RU" dirty="0">
                <a:highlight>
                  <a:srgbClr val="FFFFFF"/>
                </a:highlight>
              </a:rPr>
              <a:t> </a:t>
            </a:r>
            <a:r>
              <a:rPr lang="ru-RU" dirty="0" err="1">
                <a:highlight>
                  <a:srgbClr val="FFFFFF"/>
                </a:highlight>
              </a:rPr>
              <a:t>утилітарна</a:t>
            </a:r>
            <a:r>
              <a:rPr lang="ru-RU" dirty="0">
                <a:highlight>
                  <a:srgbClr val="FFFFFF"/>
                </a:highlight>
              </a:rPr>
              <a:t> система для </a:t>
            </a:r>
            <a:r>
              <a:rPr lang="ru-RU" dirty="0" err="1">
                <a:highlight>
                  <a:srgbClr val="FFFFFF"/>
                </a:highlight>
              </a:rPr>
              <a:t>швидкого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створення</a:t>
            </a:r>
            <a:r>
              <a:rPr lang="ru-RU" dirty="0">
                <a:highlight>
                  <a:srgbClr val="FFFFFF"/>
                </a:highlight>
              </a:rPr>
              <a:t> адаптивного UI.</a:t>
            </a:r>
          </a:p>
          <a:p>
            <a:pPr marL="114300" indent="0">
              <a:buNone/>
            </a:pPr>
            <a:r>
              <a:rPr lang="ru-RU" b="1" dirty="0" err="1">
                <a:highlight>
                  <a:srgbClr val="FFFFFF"/>
                </a:highlight>
              </a:rPr>
              <a:t>Recharts</a:t>
            </a:r>
            <a:r>
              <a:rPr lang="ru-RU" b="1" dirty="0">
                <a:highlight>
                  <a:srgbClr val="FFFFFF"/>
                </a:highlight>
              </a:rPr>
              <a:t>:</a:t>
            </a:r>
            <a:r>
              <a:rPr lang="ru-RU" dirty="0">
                <a:highlight>
                  <a:srgbClr val="FFFFFF"/>
                </a:highlight>
              </a:rPr>
              <a:t> </a:t>
            </a:r>
            <a:r>
              <a:rPr lang="ru-RU" dirty="0" err="1">
                <a:highlight>
                  <a:srgbClr val="FFFFFF"/>
                </a:highlight>
              </a:rPr>
              <a:t>візуалізація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даних</a:t>
            </a:r>
            <a:r>
              <a:rPr lang="ru-RU" dirty="0">
                <a:highlight>
                  <a:srgbClr val="FFFFFF"/>
                </a:highlight>
              </a:rPr>
              <a:t> та </a:t>
            </a:r>
            <a:r>
              <a:rPr lang="ru-RU" dirty="0" err="1">
                <a:highlight>
                  <a:srgbClr val="FFFFFF"/>
                </a:highlight>
              </a:rPr>
              <a:t>графіків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енергоспоживання</a:t>
            </a:r>
            <a:r>
              <a:rPr lang="ru-RU" dirty="0">
                <a:highlight>
                  <a:srgbClr val="FFFFFF"/>
                </a:highlight>
              </a:rPr>
              <a:t>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-RU" dirty="0" err="1"/>
              <a:t>Принципи</a:t>
            </a:r>
            <a:r>
              <a:rPr lang="ru-RU" dirty="0"/>
              <a:t>: </a:t>
            </a:r>
            <a:r>
              <a:rPr lang="ru-RU" dirty="0" err="1"/>
              <a:t>Мінімалізм</a:t>
            </a:r>
            <a:r>
              <a:rPr lang="ru-RU" dirty="0"/>
              <a:t>, </a:t>
            </a:r>
            <a:r>
              <a:rPr lang="ru-RU" dirty="0" err="1"/>
              <a:t>інтуїтивність</a:t>
            </a:r>
            <a:r>
              <a:rPr lang="ru-RU" dirty="0"/>
              <a:t>, </a:t>
            </a:r>
            <a:r>
              <a:rPr lang="ru-RU" dirty="0" err="1"/>
              <a:t>чистий</a:t>
            </a:r>
            <a:r>
              <a:rPr lang="ru-RU" dirty="0"/>
              <a:t> дизайн.</a:t>
            </a:r>
          </a:p>
          <a:p>
            <a:pPr marL="114300" indent="0">
              <a:buNone/>
            </a:pP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: 1. Головна </a:t>
            </a:r>
            <a:r>
              <a:rPr lang="ru-RU" dirty="0" err="1"/>
              <a:t>сторінка</a:t>
            </a:r>
            <a:r>
              <a:rPr lang="ru-RU" dirty="0"/>
              <a:t> (</a:t>
            </a:r>
            <a:r>
              <a:rPr lang="ru-RU" dirty="0" err="1"/>
              <a:t>кімнати</a:t>
            </a:r>
            <a:r>
              <a:rPr lang="ru-RU" dirty="0"/>
              <a:t>, </a:t>
            </a:r>
            <a:r>
              <a:rPr lang="ru-RU" dirty="0" err="1"/>
              <a:t>пристрої</a:t>
            </a:r>
            <a:r>
              <a:rPr lang="ru-RU" dirty="0"/>
              <a:t>). 2. </a:t>
            </a:r>
            <a:r>
              <a:rPr lang="ru-RU" dirty="0" err="1"/>
              <a:t>Керування</a:t>
            </a:r>
            <a:r>
              <a:rPr lang="ru-RU" dirty="0"/>
              <a:t> (</a:t>
            </a:r>
            <a:r>
              <a:rPr lang="ru-RU" dirty="0" err="1"/>
              <a:t>взаємодія</a:t>
            </a:r>
            <a:r>
              <a:rPr lang="ru-RU" dirty="0"/>
              <a:t> з тумблерами). 3. </a:t>
            </a:r>
            <a:r>
              <a:rPr lang="ru-RU" dirty="0" err="1"/>
              <a:t>Аналітика</a:t>
            </a:r>
            <a:r>
              <a:rPr lang="ru-RU" dirty="0"/>
              <a:t> (перегляд </a:t>
            </a:r>
            <a:r>
              <a:rPr lang="ru-RU" dirty="0" err="1"/>
              <a:t>графіків</a:t>
            </a:r>
            <a:r>
              <a:rPr lang="ru-RU" dirty="0"/>
              <a:t>).</a:t>
            </a:r>
          </a:p>
          <a:p>
            <a:pPr marL="114300" indent="0">
              <a:buNone/>
            </a:pPr>
            <a:r>
              <a:rPr lang="ru-RU" dirty="0" err="1"/>
              <a:t>Технології</a:t>
            </a:r>
            <a:r>
              <a:rPr lang="ru-RU" dirty="0"/>
              <a:t>: </a:t>
            </a:r>
            <a:r>
              <a:rPr lang="ru-RU" dirty="0" err="1"/>
              <a:t>Tailwind</a:t>
            </a:r>
            <a:r>
              <a:rPr lang="ru-RU" dirty="0"/>
              <a:t> CSS для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адаптивності</a:t>
            </a:r>
            <a:r>
              <a:rPr lang="ru-RU" dirty="0"/>
              <a:t>.</a:t>
            </a: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694408" y="10887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114300" indent="0">
              <a:buNone/>
            </a:pPr>
            <a:r>
              <a:rPr lang="ru-RU" dirty="0"/>
              <a:t>// </a:t>
            </a:r>
            <a:r>
              <a:rPr lang="ru-RU" dirty="0" err="1"/>
              <a:t>Спільний</a:t>
            </a:r>
            <a:r>
              <a:rPr lang="ru-RU" dirty="0"/>
              <a:t> макет для PHP/Java та C# JSON-</a:t>
            </a:r>
            <a:r>
              <a:rPr lang="ru-RU" dirty="0" err="1"/>
              <a:t>десеріалізатора</a:t>
            </a:r>
            <a:endParaRPr lang="ru-RU" dirty="0"/>
          </a:p>
          <a:p>
            <a:pPr marL="114300" indent="0">
              <a:buNone/>
            </a:pP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proxyPayload</a:t>
            </a:r>
            <a:r>
              <a:rPr lang="ru-RU" dirty="0"/>
              <a:t> = {</a:t>
            </a:r>
          </a:p>
          <a:p>
            <a:pPr marL="114300" indent="0">
              <a:buNone/>
            </a:pPr>
            <a:r>
              <a:rPr lang="ru-RU" dirty="0"/>
              <a:t>    </a:t>
            </a:r>
            <a:r>
              <a:rPr lang="ru-RU" dirty="0" err="1"/>
              <a:t>on</a:t>
            </a:r>
            <a:r>
              <a:rPr lang="ru-RU" dirty="0"/>
              <a:t>: </a:t>
            </a:r>
            <a:r>
              <a:rPr lang="ru-RU" dirty="0" err="1"/>
              <a:t>targetOn</a:t>
            </a:r>
            <a:r>
              <a:rPr lang="ru-RU" dirty="0"/>
              <a:t>, On: </a:t>
            </a:r>
            <a:r>
              <a:rPr lang="ru-RU" dirty="0" err="1"/>
              <a:t>targetOn</a:t>
            </a:r>
            <a:r>
              <a:rPr lang="ru-RU" dirty="0"/>
              <a:t>,</a:t>
            </a:r>
          </a:p>
          <a:p>
            <a:pPr marL="114300" indent="0">
              <a:buNone/>
            </a:pPr>
            <a:r>
              <a:rPr lang="ru-RU" dirty="0"/>
              <a:t>    </a:t>
            </a:r>
            <a:r>
              <a:rPr lang="ru-RU" dirty="0" err="1"/>
              <a:t>bri</a:t>
            </a:r>
            <a:r>
              <a:rPr lang="ru-RU" dirty="0"/>
              <a:t>: </a:t>
            </a:r>
            <a:r>
              <a:rPr lang="ru-RU" dirty="0" err="1"/>
              <a:t>targetBri</a:t>
            </a:r>
            <a:r>
              <a:rPr lang="ru-RU" dirty="0"/>
              <a:t>, </a:t>
            </a:r>
            <a:r>
              <a:rPr lang="ru-RU" dirty="0" err="1"/>
              <a:t>Bri</a:t>
            </a:r>
            <a:r>
              <a:rPr lang="ru-RU" dirty="0"/>
              <a:t>: </a:t>
            </a:r>
            <a:r>
              <a:rPr lang="ru-RU" dirty="0" err="1"/>
              <a:t>targetBri</a:t>
            </a:r>
            <a:endParaRPr lang="ru-RU" dirty="0"/>
          </a:p>
          <a:p>
            <a:pPr marL="114300" indent="0">
              <a:buNone/>
            </a:pPr>
            <a:r>
              <a:rPr lang="ru-RU" dirty="0"/>
              <a:t>}</a:t>
            </a:r>
          </a:p>
          <a:p>
            <a:pPr marL="114300" indent="0">
              <a:buNone/>
            </a:pPr>
            <a:endParaRPr lang="ru-RU" dirty="0"/>
          </a:p>
          <a:p>
            <a:pPr marL="114300" indent="0">
              <a:buNone/>
            </a:pPr>
            <a:r>
              <a:rPr lang="ru-RU" dirty="0"/>
              <a:t>// POST запит до C# </a:t>
            </a:r>
            <a:r>
              <a:rPr lang="ru-RU" dirty="0" err="1"/>
              <a:t>Proxy</a:t>
            </a:r>
            <a:r>
              <a:rPr lang="ru-RU" dirty="0"/>
              <a:t> для </a:t>
            </a:r>
            <a:r>
              <a:rPr lang="ru-RU" dirty="0" err="1"/>
              <a:t>ведення</a:t>
            </a:r>
            <a:r>
              <a:rPr lang="ru-RU" dirty="0"/>
              <a:t>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логів</a:t>
            </a:r>
            <a:r>
              <a:rPr lang="ru-RU" dirty="0"/>
              <a:t> на </a:t>
            </a:r>
            <a:r>
              <a:rPr lang="ru-RU" dirty="0" err="1"/>
              <a:t>шлюзі</a:t>
            </a:r>
            <a:endParaRPr lang="ru-RU" dirty="0"/>
          </a:p>
          <a:p>
            <a:pPr marL="114300" indent="0">
              <a:buNone/>
            </a:pPr>
            <a:r>
              <a:rPr lang="ru-RU" dirty="0" err="1"/>
              <a:t>try</a:t>
            </a:r>
            <a:r>
              <a:rPr lang="ru-RU" dirty="0"/>
              <a:t> {</a:t>
            </a:r>
          </a:p>
          <a:p>
            <a:pPr marL="114300" indent="0">
              <a:buNone/>
            </a:pPr>
            <a:r>
              <a:rPr lang="ru-RU" dirty="0"/>
              <a:t>    </a:t>
            </a:r>
            <a:r>
              <a:rPr lang="ru-RU" dirty="0" err="1"/>
              <a:t>await</a:t>
            </a:r>
            <a:r>
              <a:rPr lang="ru-RU" dirty="0"/>
              <a:t> </a:t>
            </a:r>
            <a:r>
              <a:rPr lang="ru-RU" dirty="0" err="1"/>
              <a:t>fetch</a:t>
            </a:r>
            <a:r>
              <a:rPr lang="ru-RU" dirty="0"/>
              <a:t>(API_URL + '/</a:t>
            </a:r>
            <a:r>
              <a:rPr lang="ru-RU" dirty="0" err="1"/>
              <a:t>lights</a:t>
            </a:r>
            <a:r>
              <a:rPr lang="ru-RU" dirty="0"/>
              <a:t>/' + </a:t>
            </a:r>
            <a:r>
              <a:rPr lang="ru-RU" dirty="0" err="1"/>
              <a:t>id</a:t>
            </a:r>
            <a:r>
              <a:rPr lang="ru-RU" dirty="0"/>
              <a:t> + '/</a:t>
            </a:r>
            <a:r>
              <a:rPr lang="ru-RU" dirty="0" err="1"/>
              <a:t>state</a:t>
            </a:r>
            <a:r>
              <a:rPr lang="ru-RU" dirty="0"/>
              <a:t>', {</a:t>
            </a:r>
          </a:p>
          <a:p>
            <a:pPr marL="114300" indent="0">
              <a:buNone/>
            </a:pPr>
            <a:r>
              <a:rPr lang="ru-RU" dirty="0"/>
              <a:t>        </a:t>
            </a:r>
            <a:r>
              <a:rPr lang="ru-RU" dirty="0" err="1"/>
              <a:t>method</a:t>
            </a:r>
            <a:r>
              <a:rPr lang="ru-RU" dirty="0"/>
              <a:t>: 'PUT',</a:t>
            </a:r>
          </a:p>
          <a:p>
            <a:pPr marL="114300" indent="0">
              <a:buNone/>
            </a:pPr>
            <a:r>
              <a:rPr lang="ru-RU" dirty="0"/>
              <a:t>        </a:t>
            </a:r>
            <a:r>
              <a:rPr lang="ru-RU" dirty="0" err="1"/>
              <a:t>headers</a:t>
            </a:r>
            <a:r>
              <a:rPr lang="ru-RU" dirty="0"/>
              <a:t>: { 'Content-Type': '</a:t>
            </a:r>
            <a:r>
              <a:rPr lang="ru-RU" dirty="0" err="1"/>
              <a:t>application</a:t>
            </a:r>
            <a:r>
              <a:rPr lang="ru-RU" dirty="0"/>
              <a:t>/</a:t>
            </a:r>
            <a:r>
              <a:rPr lang="ru-RU" dirty="0" err="1"/>
              <a:t>json</a:t>
            </a:r>
            <a:r>
              <a:rPr lang="ru-RU" dirty="0"/>
              <a:t>' },</a:t>
            </a:r>
          </a:p>
          <a:p>
            <a:pPr marL="114300" indent="0">
              <a:buNone/>
            </a:pPr>
            <a:r>
              <a:rPr lang="ru-RU" dirty="0"/>
              <a:t>        </a:t>
            </a:r>
            <a:r>
              <a:rPr lang="ru-RU" dirty="0" err="1"/>
              <a:t>body</a:t>
            </a:r>
            <a:r>
              <a:rPr lang="ru-RU" dirty="0"/>
              <a:t>: </a:t>
            </a:r>
            <a:r>
              <a:rPr lang="ru-RU" dirty="0" err="1"/>
              <a:t>JSON.stringify</a:t>
            </a:r>
            <a:r>
              <a:rPr lang="ru-RU" dirty="0"/>
              <a:t>(</a:t>
            </a:r>
            <a:r>
              <a:rPr lang="ru-RU" dirty="0" err="1"/>
              <a:t>proxyPayload</a:t>
            </a:r>
            <a:r>
              <a:rPr lang="ru-RU" dirty="0"/>
              <a:t>)</a:t>
            </a:r>
          </a:p>
          <a:p>
            <a:pPr marL="114300" indent="0">
              <a:buNone/>
            </a:pPr>
            <a:r>
              <a:rPr lang="ru-RU" dirty="0"/>
              <a:t>    });</a:t>
            </a:r>
          </a:p>
          <a:p>
            <a:pPr marL="114300" indent="0">
              <a:buNone/>
            </a:pPr>
            <a:r>
              <a:rPr lang="ru-RU" dirty="0"/>
              <a:t>} </a:t>
            </a:r>
            <a:r>
              <a:rPr lang="ru-RU" dirty="0" err="1"/>
              <a:t>catch</a:t>
            </a:r>
            <a:r>
              <a:rPr lang="ru-RU" dirty="0"/>
              <a:t>(</a:t>
            </a:r>
            <a:r>
              <a:rPr lang="ru-RU" dirty="0" err="1"/>
              <a:t>err</a:t>
            </a:r>
            <a:r>
              <a:rPr lang="ru-RU" dirty="0"/>
              <a:t>) {</a:t>
            </a:r>
          </a:p>
          <a:p>
            <a:pPr marL="114300" indent="0">
              <a:buNone/>
            </a:pPr>
            <a:r>
              <a:rPr lang="ru-RU" dirty="0"/>
              <a:t>    </a:t>
            </a:r>
            <a:r>
              <a:rPr lang="ru-RU" dirty="0" err="1"/>
              <a:t>console.error</a:t>
            </a:r>
            <a:r>
              <a:rPr lang="ru-RU" dirty="0"/>
              <a:t>("Шлюз </a:t>
            </a:r>
            <a:r>
              <a:rPr lang="ru-RU" dirty="0" err="1"/>
              <a:t>недоступний</a:t>
            </a:r>
            <a:r>
              <a:rPr lang="ru-RU" dirty="0"/>
              <a:t>", </a:t>
            </a:r>
            <a:r>
              <a:rPr lang="ru-RU" dirty="0" err="1"/>
              <a:t>err</a:t>
            </a:r>
            <a:r>
              <a:rPr lang="ru-RU" dirty="0"/>
              <a:t>);</a:t>
            </a:r>
          </a:p>
          <a:p>
            <a:pPr marL="114300" indent="0">
              <a:buNone/>
            </a:pPr>
            <a:r>
              <a:rPr lang="ru-RU" dirty="0"/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7827CC1-C7C3-A527-8EB8-05A98401B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26" y="687680"/>
            <a:ext cx="3497414" cy="201231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6477F4-F782-EAA6-0371-8905897592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1893" y="687680"/>
            <a:ext cx="4074598" cy="20096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DBF746-B586-5564-882F-126AE73FDF09}"/>
              </a:ext>
            </a:extLst>
          </p:cNvPr>
          <p:cNvSpPr txBox="1"/>
          <p:nvPr/>
        </p:nvSpPr>
        <p:spPr>
          <a:xfrm>
            <a:off x="268926" y="2697291"/>
            <a:ext cx="34974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Скріншот</a:t>
            </a:r>
            <a:r>
              <a:rPr lang="ru-RU" dirty="0"/>
              <a:t> 1: Головна панель (</a:t>
            </a:r>
            <a:r>
              <a:rPr lang="ru-RU" dirty="0" err="1"/>
              <a:t>Dashboard</a:t>
            </a:r>
            <a:r>
              <a:rPr lang="ru-RU" dirty="0"/>
              <a:t>) </a:t>
            </a:r>
            <a:r>
              <a:rPr lang="ru-RU" dirty="0" err="1"/>
              <a:t>зі</a:t>
            </a:r>
            <a:r>
              <a:rPr lang="ru-RU" dirty="0"/>
              <a:t> списком </a:t>
            </a:r>
            <a:r>
              <a:rPr lang="ru-RU" dirty="0" err="1"/>
              <a:t>кімнат</a:t>
            </a:r>
            <a:r>
              <a:rPr lang="ru-RU" dirty="0"/>
              <a:t> та </a:t>
            </a:r>
            <a:r>
              <a:rPr lang="ru-RU" dirty="0" err="1"/>
              <a:t>пристроїв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F587D-68E3-2F4D-3B61-B5032A722AF1}"/>
              </a:ext>
            </a:extLst>
          </p:cNvPr>
          <p:cNvSpPr txBox="1"/>
          <p:nvPr/>
        </p:nvSpPr>
        <p:spPr>
          <a:xfrm>
            <a:off x="3991894" y="2697291"/>
            <a:ext cx="4074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Скріншот</a:t>
            </a:r>
            <a:r>
              <a:rPr lang="ru-RU" dirty="0"/>
              <a:t> 2:Панель </a:t>
            </a:r>
            <a:r>
              <a:rPr lang="ru-RU" dirty="0" err="1"/>
              <a:t>інтелектуальних</a:t>
            </a:r>
            <a:r>
              <a:rPr lang="ru-RU" dirty="0"/>
              <a:t> </a:t>
            </a:r>
            <a:r>
              <a:rPr lang="ru-RU" dirty="0" err="1"/>
              <a:t>сценаріїв</a:t>
            </a:r>
            <a:r>
              <a:rPr lang="ru-RU" dirty="0"/>
              <a:t> </a:t>
            </a:r>
            <a:r>
              <a:rPr lang="ru-RU" dirty="0" err="1"/>
              <a:t>автоматизації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Тестування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-RU" b="1" dirty="0">
                <a:highlight>
                  <a:srgbClr val="FFFFFF"/>
                </a:highlight>
              </a:rPr>
              <a:t>	</a:t>
            </a:r>
            <a:r>
              <a:rPr lang="ru-RU" dirty="0" err="1">
                <a:highlight>
                  <a:srgbClr val="FFFFFF"/>
                </a:highlight>
              </a:rPr>
              <a:t>Методи</a:t>
            </a:r>
            <a:r>
              <a:rPr lang="ru-RU" dirty="0">
                <a:highlight>
                  <a:srgbClr val="FFFFFF"/>
                </a:highlight>
              </a:rPr>
              <a:t>: </a:t>
            </a:r>
            <a:r>
              <a:rPr lang="ru-RU" dirty="0" err="1">
                <a:highlight>
                  <a:srgbClr val="FFFFFF"/>
                </a:highlight>
              </a:rPr>
              <a:t>Ручне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функціональне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тестування</a:t>
            </a:r>
            <a:r>
              <a:rPr lang="ru-RU" dirty="0">
                <a:highlight>
                  <a:srgbClr val="FFFFFF"/>
                </a:highlight>
              </a:rPr>
              <a:t> (</a:t>
            </a:r>
            <a:r>
              <a:rPr lang="ru-RU" dirty="0" err="1">
                <a:highlight>
                  <a:srgbClr val="FFFFFF"/>
                </a:highlight>
              </a:rPr>
              <a:t>керування</a:t>
            </a:r>
            <a:r>
              <a:rPr lang="ru-RU" dirty="0">
                <a:highlight>
                  <a:srgbClr val="FFFFFF"/>
                </a:highlight>
              </a:rPr>
              <a:t> пристроями), </a:t>
            </a:r>
            <a:r>
              <a:rPr lang="ru-RU" dirty="0" err="1">
                <a:highlight>
                  <a:srgbClr val="FFFFFF"/>
                </a:highlight>
              </a:rPr>
              <a:t>перевірка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відмовостійкості</a:t>
            </a:r>
            <a:r>
              <a:rPr lang="ru-RU" dirty="0">
                <a:highlight>
                  <a:srgbClr val="FFFFFF"/>
                </a:highlight>
              </a:rPr>
              <a:t> (робота без </a:t>
            </a:r>
            <a:r>
              <a:rPr lang="ru-RU" dirty="0" err="1">
                <a:highlight>
                  <a:srgbClr val="FFFFFF"/>
                </a:highlight>
              </a:rPr>
              <a:t>Інтернету</a:t>
            </a:r>
            <a:r>
              <a:rPr lang="ru-RU" dirty="0">
                <a:highlight>
                  <a:srgbClr val="FFFFFF"/>
                </a:highlight>
              </a:rPr>
              <a:t>).</a:t>
            </a:r>
          </a:p>
          <a:p>
            <a:pPr marL="114300" indent="0">
              <a:buNone/>
            </a:pPr>
            <a:r>
              <a:rPr lang="ru-RU" dirty="0">
                <a:highlight>
                  <a:srgbClr val="FFFFFF"/>
                </a:highlight>
              </a:rPr>
              <a:t>	</a:t>
            </a:r>
            <a:r>
              <a:rPr lang="ru-RU" dirty="0" err="1">
                <a:highlight>
                  <a:srgbClr val="FFFFFF"/>
                </a:highlight>
              </a:rPr>
              <a:t>Результати</a:t>
            </a:r>
            <a:r>
              <a:rPr lang="ru-RU" dirty="0">
                <a:highlight>
                  <a:srgbClr val="FFFFFF"/>
                </a:highlight>
              </a:rPr>
              <a:t>: 1. </a:t>
            </a:r>
            <a:r>
              <a:rPr lang="ru-RU" dirty="0" err="1">
                <a:highlight>
                  <a:srgbClr val="FFFFFF"/>
                </a:highlight>
              </a:rPr>
              <a:t>Стабільна</a:t>
            </a:r>
            <a:r>
              <a:rPr lang="ru-RU" dirty="0">
                <a:highlight>
                  <a:srgbClr val="FFFFFF"/>
                </a:highlight>
              </a:rPr>
              <a:t> робота </a:t>
            </a:r>
            <a:r>
              <a:rPr lang="ru-RU" dirty="0" err="1">
                <a:highlight>
                  <a:srgbClr val="FFFFFF"/>
                </a:highlight>
              </a:rPr>
              <a:t>всіх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модулів</a:t>
            </a:r>
            <a:r>
              <a:rPr lang="ru-RU" dirty="0">
                <a:highlight>
                  <a:srgbClr val="FFFFFF"/>
                </a:highlight>
              </a:rPr>
              <a:t>. 2. </a:t>
            </a:r>
            <a:r>
              <a:rPr lang="ru-RU" dirty="0" err="1">
                <a:highlight>
                  <a:srgbClr val="FFFFFF"/>
                </a:highlight>
              </a:rPr>
              <a:t>Команди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доставляються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миттєво</a:t>
            </a:r>
            <a:r>
              <a:rPr lang="ru-RU" dirty="0">
                <a:highlight>
                  <a:srgbClr val="FFFFFF"/>
                </a:highlight>
              </a:rPr>
              <a:t> (&lt;35мс). 3. Система </a:t>
            </a:r>
            <a:r>
              <a:rPr lang="ru-RU" dirty="0" err="1">
                <a:highlight>
                  <a:srgbClr val="FFFFFF"/>
                </a:highlight>
              </a:rPr>
              <a:t>зберігає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працездатність</a:t>
            </a:r>
            <a:r>
              <a:rPr lang="ru-RU" dirty="0">
                <a:highlight>
                  <a:srgbClr val="FFFFFF"/>
                </a:highlight>
              </a:rPr>
              <a:t> при </a:t>
            </a:r>
            <a:r>
              <a:rPr lang="ru-RU" dirty="0" err="1">
                <a:highlight>
                  <a:srgbClr val="FFFFFF"/>
                </a:highlight>
              </a:rPr>
              <a:t>відключенні</a:t>
            </a:r>
            <a:r>
              <a:rPr lang="ru-RU" dirty="0">
                <a:highlight>
                  <a:srgbClr val="FFFFFF"/>
                </a:highlight>
              </a:rPr>
              <a:t> провайдера.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-RU" b="1" dirty="0"/>
              <a:t>	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вдалося</a:t>
            </a:r>
            <a:r>
              <a:rPr lang="ru-RU" b="1" dirty="0"/>
              <a:t> / </a:t>
            </a:r>
            <a:r>
              <a:rPr lang="ru-RU" b="1" dirty="0" err="1"/>
              <a:t>Чи</a:t>
            </a:r>
            <a:r>
              <a:rPr lang="ru-RU" b="1" dirty="0"/>
              <a:t> </a:t>
            </a:r>
            <a:r>
              <a:rPr lang="ru-RU" b="1" dirty="0" err="1"/>
              <a:t>досягнута</a:t>
            </a:r>
            <a:r>
              <a:rPr lang="ru-RU" b="1" dirty="0"/>
              <a:t> мета:</a:t>
            </a:r>
            <a:r>
              <a:rPr lang="ru-RU" dirty="0"/>
              <a:t> </a:t>
            </a:r>
            <a:r>
              <a:rPr lang="ru-RU" dirty="0" err="1"/>
              <a:t>Успішно</a:t>
            </a:r>
            <a:r>
              <a:rPr lang="ru-RU" dirty="0"/>
              <a:t> </a:t>
            </a:r>
            <a:r>
              <a:rPr lang="ru-RU" dirty="0" err="1"/>
              <a:t>розроблено</a:t>
            </a:r>
            <a:r>
              <a:rPr lang="ru-RU" dirty="0"/>
              <a:t> </a:t>
            </a:r>
            <a:r>
              <a:rPr lang="ru-RU" dirty="0" err="1"/>
              <a:t>повноцінний</a:t>
            </a:r>
            <a:r>
              <a:rPr lang="ru-RU" dirty="0"/>
              <a:t> </a:t>
            </a:r>
            <a:r>
              <a:rPr lang="ru-RU" dirty="0" err="1"/>
              <a:t>автономний</a:t>
            </a:r>
            <a:r>
              <a:rPr lang="ru-RU" dirty="0"/>
              <a:t> веб-</a:t>
            </a:r>
            <a:r>
              <a:rPr lang="ru-RU" dirty="0" err="1"/>
              <a:t>застосунок</a:t>
            </a:r>
            <a:r>
              <a:rPr lang="ru-RU" dirty="0"/>
              <a:t>. Мета </a:t>
            </a:r>
            <a:r>
              <a:rPr lang="ru-RU" dirty="0" err="1"/>
              <a:t>досягнута</a:t>
            </a:r>
            <a:r>
              <a:rPr lang="ru-RU" dirty="0"/>
              <a:t> </a:t>
            </a:r>
            <a:r>
              <a:rPr lang="ru-RU" dirty="0" err="1"/>
              <a:t>повністю</a:t>
            </a:r>
            <a:r>
              <a:rPr lang="ru-RU" dirty="0"/>
              <a:t>.</a:t>
            </a:r>
          </a:p>
          <a:p>
            <a:pPr marL="114300" indent="0">
              <a:buNone/>
            </a:pPr>
            <a:r>
              <a:rPr lang="ru-RU" b="1" dirty="0"/>
              <a:t>	</a:t>
            </a:r>
            <a:r>
              <a:rPr lang="ru-RU" b="1" dirty="0" err="1"/>
              <a:t>Наскільки</a:t>
            </a:r>
            <a:r>
              <a:rPr lang="ru-RU" b="1" dirty="0"/>
              <a:t> </a:t>
            </a:r>
            <a:r>
              <a:rPr lang="ru-RU" b="1" dirty="0" err="1"/>
              <a:t>корисний</a:t>
            </a:r>
            <a:r>
              <a:rPr lang="ru-RU" b="1" dirty="0"/>
              <a:t>:</a:t>
            </a:r>
            <a:r>
              <a:rPr lang="ru-RU" dirty="0"/>
              <a:t> Є </a:t>
            </a:r>
            <a:r>
              <a:rPr lang="ru-RU" dirty="0" err="1"/>
              <a:t>надійним</a:t>
            </a:r>
            <a:r>
              <a:rPr lang="ru-RU" dirty="0"/>
              <a:t> </a:t>
            </a:r>
            <a:r>
              <a:rPr lang="ru-RU" dirty="0" err="1"/>
              <a:t>інструментом</a:t>
            </a:r>
            <a:r>
              <a:rPr lang="ru-RU" dirty="0"/>
              <a:t> для </a:t>
            </a:r>
            <a:r>
              <a:rPr lang="ru-RU" dirty="0" err="1"/>
              <a:t>безпечного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домашньою</a:t>
            </a:r>
            <a:r>
              <a:rPr lang="ru-RU" dirty="0"/>
              <a:t> </a:t>
            </a:r>
            <a:r>
              <a:rPr lang="ru-RU" dirty="0" err="1"/>
              <a:t>автоматизацією</a:t>
            </a:r>
            <a:r>
              <a:rPr lang="ru-RU" dirty="0"/>
              <a:t>.</a:t>
            </a:r>
          </a:p>
          <a:p>
            <a:pPr marL="114300" indent="0">
              <a:buNone/>
            </a:pPr>
            <a:r>
              <a:rPr lang="ru-RU" b="1" dirty="0"/>
              <a:t>	</a:t>
            </a:r>
            <a:r>
              <a:rPr lang="ru-RU" b="1" dirty="0" err="1"/>
              <a:t>Можливості</a:t>
            </a:r>
            <a:r>
              <a:rPr lang="ru-RU" b="1" dirty="0"/>
              <a:t> </a:t>
            </a:r>
            <a:r>
              <a:rPr lang="ru-RU" b="1" dirty="0" err="1"/>
              <a:t>розвитку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Інтеграція</a:t>
            </a:r>
            <a:r>
              <a:rPr lang="ru-RU" dirty="0"/>
              <a:t> протоколу </a:t>
            </a:r>
            <a:r>
              <a:rPr lang="ru-RU" dirty="0" err="1"/>
              <a:t>Matter</a:t>
            </a:r>
            <a:r>
              <a:rPr lang="ru-RU" dirty="0"/>
              <a:t>/</a:t>
            </a:r>
            <a:r>
              <a:rPr lang="ru-RU" dirty="0" err="1"/>
              <a:t>Thread</a:t>
            </a:r>
            <a:r>
              <a:rPr lang="ru-RU" dirty="0"/>
              <a:t>, </a:t>
            </a:r>
            <a:r>
              <a:rPr lang="ru-RU" dirty="0" err="1"/>
              <a:t>розробка</a:t>
            </a:r>
            <a:r>
              <a:rPr lang="ru-RU" dirty="0"/>
              <a:t> </a:t>
            </a:r>
            <a:r>
              <a:rPr lang="ru-RU" dirty="0" err="1"/>
              <a:t>нативних</a:t>
            </a:r>
            <a:r>
              <a:rPr lang="ru-RU" dirty="0"/>
              <a:t> </a:t>
            </a:r>
            <a:r>
              <a:rPr lang="ru-RU" dirty="0" err="1"/>
              <a:t>мобільних</a:t>
            </a:r>
            <a:r>
              <a:rPr lang="ru-RU" dirty="0"/>
              <a:t> </a:t>
            </a:r>
            <a:r>
              <a:rPr lang="ru-RU" dirty="0" err="1"/>
              <a:t>застосунків</a:t>
            </a:r>
            <a:r>
              <a:rPr lang="ru-RU" dirty="0"/>
              <a:t> </a:t>
            </a:r>
            <a:r>
              <a:rPr lang="ru-RU" dirty="0" err="1"/>
              <a:t>iOS</a:t>
            </a:r>
            <a:r>
              <a:rPr lang="ru-RU" dirty="0"/>
              <a:t>/</a:t>
            </a:r>
            <a:r>
              <a:rPr lang="ru-RU" dirty="0" err="1"/>
              <a:t>Android</a:t>
            </a:r>
            <a:r>
              <a:rPr lang="ru-RU" dirty="0"/>
              <a:t>, </a:t>
            </a:r>
            <a:r>
              <a:rPr lang="ru-RU" dirty="0" err="1"/>
              <a:t>розширення</a:t>
            </a:r>
            <a:r>
              <a:rPr lang="ru-RU" dirty="0"/>
              <a:t> </a:t>
            </a:r>
            <a:r>
              <a:rPr lang="ru-RU" dirty="0" err="1"/>
              <a:t>логіки</a:t>
            </a:r>
            <a:r>
              <a:rPr lang="ru-RU" dirty="0"/>
              <a:t> </a:t>
            </a:r>
            <a:r>
              <a:rPr lang="ru-RU" dirty="0" err="1"/>
              <a:t>Rule</a:t>
            </a:r>
            <a:r>
              <a:rPr lang="ru-RU" dirty="0"/>
              <a:t> Engine.</a:t>
            </a:r>
          </a:p>
          <a:p>
            <a:pPr marL="114300" indent="0">
              <a:buNone/>
            </a:pPr>
            <a:r>
              <a:rPr lang="ru-RU" dirty="0"/>
              <a:t>	</a:t>
            </a:r>
            <a:r>
              <a:rPr lang="uk-UA" dirty="0"/>
              <a:t>Посилання на гіт репозиторій - </a:t>
            </a:r>
            <a:r>
              <a:rPr lang="en-US" dirty="0">
                <a:hlinkClick r:id="rId3"/>
              </a:rPr>
              <a:t>https://github.com/NureIvanovDmytro/2026-B-PI-PZPI-22-6_Ivanov_D_S</a:t>
            </a:r>
            <a:endParaRPr lang="ru-RU" dirty="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(1)</Template>
  <TotalTime>64</TotalTime>
  <Words>696</Words>
  <Application>Microsoft Office PowerPoint</Application>
  <PresentationFormat>Екран (16:9)</PresentationFormat>
  <Paragraphs>77</Paragraphs>
  <Slides>12</Slides>
  <Notes>12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6" baseType="lpstr">
      <vt:lpstr>Arial</vt:lpstr>
      <vt:lpstr>Economica</vt:lpstr>
      <vt:lpstr>Open Sans</vt:lpstr>
      <vt:lpstr>Шаблон презентації кваліфікаційної роботи магістрів</vt:lpstr>
      <vt:lpstr>Програмна система для керування системою освітлення в розумному будинку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Інтерфейс користувача </vt:lpstr>
      <vt:lpstr>Тестування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Дима Иванов</dc:creator>
  <cp:lastModifiedBy>Дима Иванов</cp:lastModifiedBy>
  <cp:revision>2</cp:revision>
  <dcterms:created xsi:type="dcterms:W3CDTF">2026-06-30T08:26:46Z</dcterms:created>
  <dcterms:modified xsi:type="dcterms:W3CDTF">2026-07-01T08:36:39Z</dcterms:modified>
</cp:coreProperties>
</file>